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843680999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InsightForge?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459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Overstocking</a:t>
            </a:r>
          </a:p>
          <a:p>
            <a:pPr>
              <a:spcBef>
                <a:spcPts val="400"/>
              </a:spcBef>
              <a:defRPr sz="1150">
                <a:solidFill>
                  <a:srgbClr val="7DD3FC"/>
                </a:solidFill>
                <a:latin typeface="Segoe UI"/>
              </a:defRPr>
            </a:pPr>
            <a:r>
              <a:t>Capital tied up in slow-moving 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0876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1737360"/>
            <a:ext cx="502920" cy="50292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1645920"/>
            <a:ext cx="2459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Understocking</a:t>
            </a:r>
          </a:p>
          <a:p>
            <a:pPr>
              <a:spcBef>
                <a:spcPts val="400"/>
              </a:spcBef>
              <a:defRPr sz="1150">
                <a:solidFill>
                  <a:srgbClr val="7DD3FC"/>
                </a:solidFill>
                <a:latin typeface="Segoe UI"/>
              </a:defRPr>
            </a:pPr>
            <a:r>
              <a:t>Stockouts lose sales &amp; customer trust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02752" y="1737360"/>
            <a:ext cx="502920" cy="50292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645920"/>
            <a:ext cx="2459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Lost Revenue</a:t>
            </a:r>
          </a:p>
          <a:p>
            <a:pPr>
              <a:spcBef>
                <a:spcPts val="400"/>
              </a:spcBef>
              <a:defRPr sz="1150">
                <a:solidFill>
                  <a:srgbClr val="7DD3FC"/>
                </a:solidFill>
                <a:latin typeface="Segoe UI"/>
              </a:defRPr>
            </a:pPr>
            <a:r>
              <a:t>Missed demand signals cost real money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11880"/>
            <a:ext cx="2459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Manual Decisions</a:t>
            </a:r>
          </a:p>
          <a:p>
            <a:pPr>
              <a:spcBef>
                <a:spcPts val="400"/>
              </a:spcBef>
              <a:defRPr sz="1150">
                <a:solidFill>
                  <a:srgbClr val="7DD3FC"/>
                </a:solidFill>
                <a:latin typeface="Segoe UI"/>
              </a:defRPr>
            </a:pPr>
            <a:r>
              <a:t>Reorder quantities guessed, not calculated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47472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08576" y="3703320"/>
            <a:ext cx="502920" cy="50292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3611880"/>
            <a:ext cx="2459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 Forecasting</a:t>
            </a:r>
          </a:p>
          <a:p>
            <a:pPr>
              <a:spcBef>
                <a:spcPts val="400"/>
              </a:spcBef>
              <a:defRPr sz="1150">
                <a:solidFill>
                  <a:srgbClr val="7DD3FC"/>
                </a:solidFill>
                <a:latin typeface="Segoe UI"/>
              </a:defRPr>
            </a:pPr>
            <a:r>
              <a:t>Zero visibility into next week's demand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47472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752" y="3703320"/>
            <a:ext cx="502920" cy="50292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3611880"/>
            <a:ext cx="2459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Scattered Data</a:t>
            </a:r>
          </a:p>
          <a:p>
            <a:pPr>
              <a:spcBef>
                <a:spcPts val="400"/>
              </a:spcBef>
              <a:defRPr sz="1150">
                <a:solidFill>
                  <a:srgbClr val="7DD3FC"/>
                </a:solidFill>
                <a:latin typeface="Segoe UI"/>
              </a:defRPr>
            </a:pPr>
            <a:r>
              <a:t>Sales data trapped across spreadsheets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728655" cy="91440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10B981"/>
                </a:solidFill>
                <a:latin typeface="Segoe UI"/>
              </a:rPr>
              <a:t>  💡  OUR SOLUTION  —  </a:t>
            </a:r>
            <a:r>
              <a:rPr sz="1150">
                <a:solidFill>
                  <a:srgbClr val="F1F5F9"/>
                </a:solidFill>
                <a:latin typeface="Segoe UI"/>
              </a:rPr>
              <a:t>InsightForge combines AI, Machine Learning &amp; Business Intelligence to help retailers make smarter inventory decisions through automated forecasting and an AI-powered retail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28416" cy="178308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502920" cy="32004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459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Actionable Data Insights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Convert raw retail sales data into actionable, evidence-based business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08760"/>
            <a:ext cx="3328416" cy="178308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1691640"/>
            <a:ext cx="502920" cy="32004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1645920"/>
            <a:ext cx="2459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Multi-Model Forecasting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Ridge, Gradient Boosting &amp; Prophet models trained and compared per individual product.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328416" cy="178308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691640"/>
            <a:ext cx="502920" cy="32004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645920"/>
            <a:ext cx="2459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Automatic Best Selection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Optimal model chosen strictly from real validation error (MAE/RMSE), never hardcoded.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3328416" cy="178308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703320"/>
            <a:ext cx="502920" cy="32004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57600"/>
            <a:ext cx="2459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Inventory Decision Support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Automated reorder quantities, stockout risk alerts, and quantified revenue at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520440"/>
            <a:ext cx="3328416" cy="178308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8576" y="3703320"/>
            <a:ext cx="502920" cy="32004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3657600"/>
            <a:ext cx="2459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Retail Analyst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Conversational AI answers grounded directly in real pandas computation, with zero hallucinated stats.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520440"/>
            <a:ext cx="3328416" cy="178308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02752" y="3703320"/>
            <a:ext cx="502920" cy="32004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3657600"/>
            <a:ext cx="2459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Interactive Dashboard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Filterable BI views with 10+ Plotly charts covering the entire store catalog.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00D4FF"/>
                </a:solidFill>
                <a:latin typeface="Segoe UI"/>
              </a:rPr>
              <a:t>  💡  CORE PURPOSE  —  </a:t>
            </a:r>
            <a:r>
              <a:rPr sz="1150">
                <a:solidFill>
                  <a:srgbClr val="F1F5F9"/>
                </a:solidFill>
                <a:latin typeface="Segoe UI"/>
              </a:rPr>
              <a:t>Empowering store managers with enterprise-grade predictive analytics without needing data science expertise.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System Architecture 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1. Retail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783080"/>
            <a:ext cx="146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2.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146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3. Feature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783080"/>
            <a:ext cx="146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4.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1783080"/>
            <a:ext cx="146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6288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5.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783080"/>
            <a:ext cx="146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6. Decision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1783080"/>
            <a:ext cx="1463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FF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48672" y="1600200"/>
            <a:ext cx="1389888" cy="73152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7. BI / AI 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3774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⬇ 3 Competing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834640"/>
            <a:ext cx="3447288" cy="109728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Ridge Regression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L2 Regularized Linear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834640"/>
            <a:ext cx="3447288" cy="109728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Gradient Boosting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Non-Linear Decision Tree Ensemble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2834640"/>
            <a:ext cx="3447288" cy="109728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Prophet</a:t>
            </a:r>
          </a:p>
          <a:p>
            <a:pPr>
              <a:spcBef>
                <a:spcPts val="4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Additive Seasonality &amp; Trend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00D4FF"/>
                </a:solidFill>
                <a:latin typeface="Segoe UI"/>
              </a:rPr>
              <a:t>  💡  PIPELINE INTEGRITY  —  </a:t>
            </a:r>
            <a:r>
              <a:rPr sz="1150">
                <a:solidFill>
                  <a:srgbClr val="F1F5F9"/>
                </a:solidFill>
                <a:latin typeface="Segoe UI"/>
              </a:rPr>
              <a:t>Every stage runs on real pandas computation — no step in this pipeline invents a number. The dataset flows through cleaning, feature engineering, and three competing forecasting models before the best performer per product is automatically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BUILT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618488"/>
            <a:ext cx="54864" cy="1463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💻  FRONTEND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HTML5 • CSS3 • JS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Modern dark UI, vanilla JS state machine.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0876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1618488"/>
            <a:ext cx="54864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6002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⚡  BACKEND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High-performance Python ASGI web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8" y="1618488"/>
            <a:ext cx="54864" cy="1463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Segoe UI"/>
              </a:defRPr>
            </a:pPr>
            <a:r>
              <a:t>🤖  MACHINE LEARNING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scikit-learn • Prophet • Pandas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Forecasting models &amp; feature engineering.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0876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70848" y="1618488"/>
            <a:ext cx="54864" cy="1463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002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📈  VISUALIZATION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Plotly.js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Interactive dynamic chart rendering.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2900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3538728"/>
            <a:ext cx="54864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🧠  AI CORE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Groq • Ollama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Fast cloud API &amp; private local LLM engine.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42900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84448" y="3538728"/>
            <a:ext cx="54864" cy="1463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52044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💾  STORAGE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JSON • Pickle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Lightweight registry &amp; model serialization.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29000"/>
            <a:ext cx="2487168" cy="1691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27648" y="3538728"/>
            <a:ext cx="54864" cy="1463040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2044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DD3FC"/>
                </a:solidFill>
                <a:latin typeface="Segoe UI"/>
              </a:defRPr>
            </a:pPr>
            <a:r>
              <a:t>🔧  VERSION CONTROL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Modular codebase architecture &amp; versioning.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10B981"/>
                </a:solidFill>
                <a:latin typeface="Segoe UI"/>
              </a:rPr>
              <a:t>  💡  ROBUST STACK  —  </a:t>
            </a:r>
            <a:r>
              <a:rPr sz="1150">
                <a:solidFill>
                  <a:srgbClr val="F1F5F9"/>
                </a:solidFill>
                <a:latin typeface="Segoe UI"/>
              </a:rPr>
              <a:t>Modern Python ML stack paired with lightweight FastAPI and interactive Plotly visual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Working Flow &amp; Operational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6184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Upload Dataset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CSV/Excel sales 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5087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16184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0116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 Validation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Schema &amp; type checking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087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93792" y="16184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116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EDA Analysis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Anomaly &amp; trend 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5087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70064" y="16184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20116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 Eng.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Lags &amp; rolling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5087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46336" y="16184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0116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Train Models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3 algorithms fitted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375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34472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404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Compare Models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MAE / RMSE ranking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07792" y="33375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17520" y="34472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38404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Forecast Curve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30-day projection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4064" y="33375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93792" y="34472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504" y="38404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Decision Support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Reorder &amp; risk metrics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0336" y="33375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70064" y="3447288"/>
            <a:ext cx="365760" cy="365760"/>
          </a:xfrm>
          <a:prstGeom prst="ellipse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38404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Analyst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Grounded chat queries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3337560"/>
            <a:ext cx="1965960" cy="160020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46336" y="3447288"/>
            <a:ext cx="438912" cy="36576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8" y="3840480"/>
            <a:ext cx="1783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Dashboard BI</a:t>
            </a:r>
          </a:p>
          <a:p>
            <a:pPr>
              <a:spcBef>
                <a:spcPts val="300"/>
              </a:spcBef>
              <a:defRPr sz="1000">
                <a:solidFill>
                  <a:srgbClr val="7DD3FC"/>
                </a:solidFill>
                <a:latin typeface="Segoe UI"/>
              </a:defRPr>
            </a:pPr>
            <a:r>
              <a:t>Interactive overview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00D4FF"/>
                </a:solidFill>
                <a:latin typeface="Segoe UI"/>
              </a:rPr>
              <a:t>  💡  STREAMLINED EXECUTION  —  </a:t>
            </a:r>
            <a:r>
              <a:rPr sz="1150">
                <a:solidFill>
                  <a:srgbClr val="F1F5F9"/>
                </a:solidFill>
                <a:latin typeface="Segoe UI"/>
              </a:rPr>
              <a:t>A single continuous pipeline — from raw CSV upload to clear business decisions the store manager can execute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Forecasting Pipeline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2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Feature Eng.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Compare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508760"/>
            <a:ext cx="1188720" cy="54864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4FF"/>
                </a:solidFill>
                <a:latin typeface="Segoe UI"/>
              </a:defRPr>
            </a:pPr>
            <a:r>
              <a:t>Best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04704" y="1508760"/>
            <a:ext cx="1188720" cy="54864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31720"/>
            <a:ext cx="2468880" cy="20574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4688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  <a:latin typeface="Segoe UI"/>
              </a:defRPr>
            </a:pPr>
            <a:r>
              <a:t>MAE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Mean Absolute Error</a:t>
            </a:r>
          </a:p>
          <a:p>
            <a:pPr>
              <a:spcBef>
                <a:spcPts val="600"/>
              </a:spcBef>
              <a:defRPr sz="1050">
                <a:solidFill>
                  <a:srgbClr val="7DD3FC"/>
                </a:solidFill>
                <a:latin typeface="Segoe UI"/>
              </a:defRPr>
            </a:pPr>
            <a:r>
              <a:t>Average absolute forecast error measured in physical product units.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2331720"/>
            <a:ext cx="2468880" cy="20574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4688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Segoe UI"/>
              </a:defRPr>
            </a:pPr>
            <a:r>
              <a:t>RMSE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Root Mean Squared Error</a:t>
            </a:r>
          </a:p>
          <a:p>
            <a:pPr>
              <a:spcBef>
                <a:spcPts val="600"/>
              </a:spcBef>
              <a:defRPr sz="1050">
                <a:solidFill>
                  <a:srgbClr val="7DD3FC"/>
                </a:solidFill>
                <a:latin typeface="Segoe UI"/>
              </a:defRPr>
            </a:pPr>
            <a:r>
              <a:t>Penalizes large outlier misses heavily to ensure stability.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331720"/>
            <a:ext cx="2468880" cy="20574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24688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MAPE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Mean Absolute % Error</a:t>
            </a:r>
          </a:p>
          <a:p>
            <a:pPr>
              <a:spcBef>
                <a:spcPts val="600"/>
              </a:spcBef>
              <a:defRPr sz="1050">
                <a:solidFill>
                  <a:srgbClr val="7DD3FC"/>
                </a:solidFill>
                <a:latin typeface="Segoe UI"/>
              </a:defRPr>
            </a:pPr>
            <a:r>
              <a:t>Relative forecast error expressed as a clear percentage.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2331720"/>
            <a:ext cx="2468880" cy="20574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24688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R² Score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Variance Explained</a:t>
            </a:r>
          </a:p>
          <a:p>
            <a:pPr>
              <a:spcBef>
                <a:spcPts val="600"/>
              </a:spcBef>
              <a:defRPr sz="1050">
                <a:solidFill>
                  <a:srgbClr val="7DD3FC"/>
                </a:solidFill>
                <a:latin typeface="Segoe UI"/>
              </a:defRPr>
            </a:pPr>
            <a:r>
              <a:t>Quantifies how accurately the model captures trend &amp; seasonality.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10728655" cy="173736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8B5CF6"/>
                </a:solidFill>
                <a:latin typeface="Segoe UI"/>
              </a:rPr>
              <a:t>  💡  CHRONOLOGICAL VALIDATION  —  </a:t>
            </a:r>
            <a:r>
              <a:rPr sz="1150">
                <a:solidFill>
                  <a:srgbClr val="F1F5F9"/>
                </a:solidFill>
                <a:latin typeface="Segoe UI"/>
              </a:rPr>
              <a:t>Models are trained strictly on early historical dates and validated on the final 30 days — never a random shuffle, which would leak future information into the past. Three models are validated per product; the lowest real validation error wins.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AI Retail Analyst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4114800" cy="36576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749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🔄  DETERMINISTIC AI FLOW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1. User Natural Language Question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2. Intent Classifier LLM (Groq / Ollama)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3. Structured Tool Selection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4. Python Pandas Deterministic Execution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5. Grounded Real Data Result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6. Formatted LLM Response +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508760"/>
            <a:ext cx="6339535" cy="658368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30368" y="1618488"/>
            <a:ext cx="54864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554480"/>
            <a:ext cx="6065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No Hallucinated Numbers</a:t>
            </a:r>
          </a:p>
          <a:p>
            <a:pPr>
              <a:defRPr sz="1050">
                <a:solidFill>
                  <a:srgbClr val="7DD3FC"/>
                </a:solidFill>
                <a:latin typeface="Segoe UI"/>
              </a:defRPr>
            </a:pPr>
            <a:r>
              <a:t>Every single stat traces directly to real pandas computations.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58568"/>
            <a:ext cx="6339535" cy="658368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30368" y="2368296"/>
            <a:ext cx="54864" cy="438912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304288"/>
            <a:ext cx="6065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Structured Tool Calling</a:t>
            </a:r>
          </a:p>
          <a:p>
            <a:pPr>
              <a:defRPr sz="1050">
                <a:solidFill>
                  <a:srgbClr val="7DD3FC"/>
                </a:solidFill>
                <a:latin typeface="Segoe UI"/>
              </a:defRPr>
            </a:pPr>
            <a:r>
              <a:t>11 deterministic backend tools — zero arbitrary code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008376"/>
            <a:ext cx="6339535" cy="658368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0368" y="3118104"/>
            <a:ext cx="54864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054096"/>
            <a:ext cx="6065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Actionable Insights</a:t>
            </a:r>
          </a:p>
          <a:p>
            <a:pPr>
              <a:defRPr sz="1050">
                <a:solidFill>
                  <a:srgbClr val="7DD3FC"/>
                </a:solidFill>
                <a:latin typeface="Segoe UI"/>
              </a:defRPr>
            </a:pPr>
            <a:r>
              <a:t>Identifies slow movers, restock alerts, &amp; plain advisories.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758184"/>
            <a:ext cx="6339535" cy="658368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30368" y="3867912"/>
            <a:ext cx="54864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3803904"/>
            <a:ext cx="6065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Dynamic Chart Generation</a:t>
            </a:r>
          </a:p>
          <a:p>
            <a:pPr>
              <a:defRPr sz="1050">
                <a:solidFill>
                  <a:srgbClr val="7DD3FC"/>
                </a:solidFill>
                <a:latin typeface="Segoe UI"/>
              </a:defRPr>
            </a:pPr>
            <a:r>
              <a:t>Real Plotly interactive charts built live from text requests.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507992"/>
            <a:ext cx="6339535" cy="658368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0368" y="4617720"/>
            <a:ext cx="54864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4553712"/>
            <a:ext cx="6065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Session Memory</a:t>
            </a:r>
          </a:p>
          <a:p>
            <a:pPr>
              <a:defRPr sz="1050">
                <a:solidFill>
                  <a:srgbClr val="7DD3FC"/>
                </a:solidFill>
                <a:latin typeface="Segoe UI"/>
              </a:defRPr>
            </a:pPr>
            <a:r>
              <a:t>Remembers conversation context seamlessly across queries.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10B981"/>
                </a:solidFill>
                <a:latin typeface="Segoe UI"/>
              </a:rPr>
              <a:t>  💡  ZERO HALLUCINATIONS  —  </a:t>
            </a:r>
            <a:r>
              <a:rPr sz="1150">
                <a:solidFill>
                  <a:srgbClr val="F1F5F9"/>
                </a:solidFill>
                <a:latin typeface="Segoe UI"/>
              </a:rPr>
              <a:t>The LLM never computes a number — it only chooses which deterministic tool to call and how to phrase the answer for the manager.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Dashboard &amp; System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📁  Data Upload</a:t>
            </a:r>
          </a:p>
          <a:p>
            <a:pPr>
              <a:spcBef>
                <a:spcPts val="6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CSV, Excel, or built-in demo dataset ingestion with automatic column alias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0876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9164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🔍  EDA &amp; Diagnostics</a:t>
            </a:r>
          </a:p>
          <a:p>
            <a:pPr>
              <a:spcBef>
                <a:spcPts val="6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Automated exploratory analysis, anomaly flags, &amp; missing value remediation.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50876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9164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📈  Demand Forecasting</a:t>
            </a:r>
          </a:p>
          <a:p>
            <a:pPr>
              <a:spcBef>
                <a:spcPts val="6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Per-product 30-day demand curves with upper/lower confidence bounds.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📊  Sales Insights BI</a:t>
            </a:r>
          </a:p>
          <a:p>
            <a:pPr>
              <a:spcBef>
                <a:spcPts val="6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Filterable business intelligence dashboard featuring 10+ interactive Plotly charts.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47472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65760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 Decision Support</a:t>
            </a:r>
          </a:p>
          <a:p>
            <a:pPr>
              <a:spcBef>
                <a:spcPts val="6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Plain-language reorder advisories, stockout countdowns, &amp; revenue at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3474720"/>
            <a:ext cx="3328416" cy="1737360"/>
          </a:xfrm>
          <a:prstGeom prst="roundRect">
            <a:avLst/>
          </a:prstGeom>
          <a:solidFill>
            <a:srgbClr val="0F254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65760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💬  AI Chat Analyst</a:t>
            </a:r>
          </a:p>
          <a:p>
            <a:pPr>
              <a:spcBef>
                <a:spcPts val="6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Ask any question in plain English to get immediate grounded answers or charts.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00D4FF"/>
                </a:solidFill>
                <a:latin typeface="Segoe UI"/>
              </a:rPr>
              <a:t>  💡  MODULAR DESIGN  —  </a:t>
            </a:r>
            <a:r>
              <a:rPr sz="1150">
                <a:solidFill>
                  <a:srgbClr val="F1F5F9"/>
                </a:solidFill>
                <a:latin typeface="Segoe UI"/>
              </a:rPr>
              <a:t>Complete end-to-end platform bridging raw data analysis, machine learning forecasting, and AI-driven decision 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Results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🎯  Automatic Best Model Selection</a:t>
            </a:r>
          </a:p>
          <a:p>
            <a:pPr>
              <a:spcBef>
                <a:spcPts val="3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Three competing algorithms compared per product. Selection driven strictly by real validation metrics, eliminating human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 Proactive Stockout Prevention</a:t>
            </a:r>
          </a:p>
          <a:p>
            <a:pPr>
              <a:spcBef>
                <a:spcPts val="3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Stockout risk identified 30 days before inventory depletes. Revenue-at-risk quantified directly in monetary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728655" cy="105156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⚡  Faster Evidence-Based Decisions</a:t>
            </a:r>
          </a:p>
          <a:p>
            <a:pPr>
              <a:spcBef>
                <a:spcPts val="300"/>
              </a:spcBef>
              <a:defRPr sz="1100">
                <a:solidFill>
                  <a:srgbClr val="7DD3FC"/>
                </a:solidFill>
                <a:latin typeface="Segoe UI"/>
              </a:defRPr>
            </a:pPr>
            <a:r>
              <a:t>Reorder quantities calculated deterministically. Store managers move from guesswork to automated data science.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728655" cy="123444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10B981"/>
                </a:solidFill>
                <a:latin typeface="Segoe UI"/>
              </a:rPr>
              <a:t>  💡  KEY TAKEAWAY  —  </a:t>
            </a:r>
            <a:r>
              <a:rPr sz="1150">
                <a:solidFill>
                  <a:srgbClr val="F1F5F9"/>
                </a:solidFill>
                <a:latin typeface="Segoe UI"/>
              </a:rPr>
              <a:t>Across the real product catalog, Prophet, Gradient Boosting, and Ridge Regression each won on different products depending on seasonality strength and price signal — confirming that per-product model selection is genuinely necessary.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10896"/>
          </a:xfrm>
          <a:prstGeom prst="roundRect">
            <a:avLst/>
          </a:prstGeom>
          <a:solidFill>
            <a:srgbClr val="0C2D5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D4FF"/>
                </a:solidFill>
                <a:latin typeface="Segoe UI"/>
              </a:defRPr>
            </a:pPr>
            <a:r>
              <a:t>REFLECTION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Challenges Encountered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7DD3FC"/>
                </a:solidFill>
                <a:latin typeface="Segoe UI"/>
              </a:defRPr>
            </a:pPr>
            <a:r>
              <a:t>INSIGHTFORGE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132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75504" cy="36576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09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⚠️  KEY TECHNICAL CHALLENGES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Data Cleaning: Handling non-UTF8 encodings &amp; noisy Excel formats.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Feature Eng.: Designing lag &amp; rolling windows for recursive forecasts.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Prophet Seasonality: Overriding forced yearly seasonality on short series.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AI Grounding: Ensuring zero LLM hallucination on numeric values.</a:t>
            </a:r>
          </a:p>
          <a:p>
            <a:pPr>
              <a:spcBef>
                <a:spcPts val="5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Column Aliases: Supporting flexible CSV headers in real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508760"/>
            <a:ext cx="5175504" cy="365760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150" y="1645920"/>
            <a:ext cx="4809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🚀  FUTURE ROADMAP &amp; EXPANSION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SQLite Registry: Migrate flat JSON storage to concurrent DB.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ONNX Export: Cross-platform model export for fast inference.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SHAP Explainability: Feature importance breakdown per forecast.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Streaming AI: Progressive SSE response streaming in chat.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Multi-User Support: Isolated dataset tenant environments.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Live POS Integration: Continuous live API ingestion from POS.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0C203C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250">
                <a:solidFill>
                  <a:srgbClr val="00D4FF"/>
                </a:solidFill>
                <a:latin typeface="Segoe UI"/>
              </a:rPr>
              <a:t>  💡  CONTINUOUS EVOLUTION  —  </a:t>
            </a:r>
            <a:r>
              <a:rPr sz="1150">
                <a:solidFill>
                  <a:srgbClr val="F1F5F9"/>
                </a:solidFill>
                <a:latin typeface="Segoe UI"/>
              </a:rPr>
              <a:t>Architected for easy scalability from a standalone retail tool to an enterprise-wide inventory management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0F25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3790" y="1005840"/>
            <a:ext cx="2743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_1784368180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1051560"/>
            <a:ext cx="256032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24612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Smarter Decisions. Stronger 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619695" cy="822960"/>
          </a:xfrm>
          <a:prstGeom prst="roundRect">
            <a:avLst/>
          </a:prstGeom>
          <a:solidFill>
            <a:srgbClr val="0C203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Raman Duggal   •   12410915   •   BCA (AI &amp; 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